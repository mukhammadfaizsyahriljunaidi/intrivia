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365" y="619482"/>
            <a:ext cx="7875270" cy="113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PROPOSAL PROYEK DESAIN INOVASI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4365" y="2024063"/>
            <a:ext cx="7875270" cy="453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00"/>
              </a:lnSpc>
              <a:buNone/>
            </a:pPr>
            <a:r>
              <a:rPr lang="en-US" sz="7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Sistem Manajemen Waktu Cerdas Berbasis ML</a:t>
            </a:r>
            <a:endParaRPr lang="en-US" sz="7100" dirty="0"/>
          </a:p>
        </p:txBody>
      </p:sp>
      <p:sp>
        <p:nvSpPr>
          <p:cNvPr id="5" name="Text 2"/>
          <p:cNvSpPr/>
          <p:nvPr/>
        </p:nvSpPr>
        <p:spPr>
          <a:xfrm>
            <a:off x="634365" y="6826448"/>
            <a:ext cx="787527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Optimalisasi Produktivitas Mahasiswa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4365" y="7320201"/>
            <a:ext cx="7875270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Kelompok 10 - Departemen Teknik Informatika, Universitas Brawijaya,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8268" y="670441"/>
            <a:ext cx="7820263" cy="1181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ABSTRAK: Mengatasi Krisis Manajemen Waktu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148268" y="2135862"/>
            <a:ext cx="3815596" cy="3070741"/>
          </a:xfrm>
          <a:prstGeom prst="roundRect">
            <a:avLst>
              <a:gd name="adj" fmla="val 258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44960" y="2332553"/>
            <a:ext cx="567333" cy="567333"/>
          </a:xfrm>
          <a:prstGeom prst="roundRect">
            <a:avLst>
              <a:gd name="adj" fmla="val 16115907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932" y="2456617"/>
            <a:ext cx="255270" cy="3190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4960" y="3088958"/>
            <a:ext cx="2363867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Tantangan Digital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344960" y="3497818"/>
            <a:ext cx="342221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Perkembangan teknologi menuntut mahasiswa mengelola waktu secara efisien, namun seringkali terjadi penurunan produktivitas dan stres.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10152936" y="2135862"/>
            <a:ext cx="3815596" cy="3070741"/>
          </a:xfrm>
          <a:prstGeom prst="roundRect">
            <a:avLst>
              <a:gd name="adj" fmla="val 258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349627" y="2332553"/>
            <a:ext cx="567333" cy="567333"/>
          </a:xfrm>
          <a:prstGeom prst="roundRect">
            <a:avLst>
              <a:gd name="adj" fmla="val 16115907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599" y="2456617"/>
            <a:ext cx="255270" cy="3190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49627" y="3088958"/>
            <a:ext cx="2363867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Solusi STMS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0349627" y="3497818"/>
            <a:ext cx="342221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Diusulkan Smart Time Management System (STMS) berbasis Machine Learning untuk menganalisis pola aktivitas dan memberikan rekomendasi jadwal adaptif.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8268" y="5395674"/>
            <a:ext cx="7820263" cy="2163485"/>
          </a:xfrm>
          <a:prstGeom prst="roundRect">
            <a:avLst>
              <a:gd name="adj" fmla="val 367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44960" y="5592366"/>
            <a:ext cx="567333" cy="567333"/>
          </a:xfrm>
          <a:prstGeom prst="roundRect">
            <a:avLst>
              <a:gd name="adj" fmla="val 16115907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932" y="5716429"/>
            <a:ext cx="255270" cy="3190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44960" y="6348770"/>
            <a:ext cx="2363867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Dampak Positif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344960" y="6757630"/>
            <a:ext cx="74268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Mendukung SDGs Poin 3 (Kesehatan &amp; Kesejahteraan) dan Poin 4 (Pendidikan Berkualitas) melalui keseimbangan waktu optimal.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837" y="323493"/>
            <a:ext cx="544949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BAB I: Latar Belakang &amp; Permasalahan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1837" y="985242"/>
            <a:ext cx="1764983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1.1 Latar Belakang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1837" y="1323380"/>
            <a:ext cx="6759893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Manajemen waktu adalah keterampilan esensial. Survei APA (2023) menunjukkan &gt;60% mahasiswa kesulitan mengatur waktu, menyebabkan stres dan penurunan performa akademik.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837" y="1805464"/>
            <a:ext cx="6759893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Pengelolaan waktu yang baik dapat meningkatkan performa akademik hingga 30% (Santoso, 2022). Aplikasi konvensional statis; inovasi adaptif diperlukan.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837" y="2313980"/>
            <a:ext cx="6759893" cy="499824"/>
          </a:xfrm>
          <a:prstGeom prst="roundRect">
            <a:avLst>
              <a:gd name="adj" fmla="val 9888"/>
            </a:avLst>
          </a:prstGeom>
          <a:solidFill>
            <a:srgbClr val="C7C9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71" y="2487573"/>
            <a:ext cx="147042" cy="117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4147" y="2461022"/>
            <a:ext cx="6259949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Proyek ini selaras dengan SDGs Poin 3 dan Poin 4.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66290" y="985242"/>
            <a:ext cx="1865709" cy="220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1.2 Rumusan Masalah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343" y="1321772"/>
            <a:ext cx="176451" cy="2206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48600" y="1338024"/>
            <a:ext cx="6377583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 merancang sistem cerdas yang menganalisis pola kebiasaan pengguna secara otomatis?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343" y="1915775"/>
            <a:ext cx="176451" cy="2206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48600" y="1932027"/>
            <a:ext cx="6377583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 sistem dapat memberikan rekomendasi aktivitas harian sesuai tingkat produktivitas pengguna?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343" y="2509778"/>
            <a:ext cx="176451" cy="2206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48600" y="2526030"/>
            <a:ext cx="6377583" cy="188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Bagaimana implementasi ML meningkatkan efektivitas sistem dibandingkan aplikasi konvensional?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290" y="3017044"/>
            <a:ext cx="6759893" cy="67598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756" y="563166"/>
            <a:ext cx="6800612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Tujuan dan Manfaat Proyek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6756" y="1919883"/>
            <a:ext cx="6496050" cy="1837730"/>
          </a:xfrm>
          <a:prstGeom prst="roundRect">
            <a:avLst>
              <a:gd name="adj" fmla="val 597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16756" y="1897023"/>
            <a:ext cx="6496050" cy="91440"/>
          </a:xfrm>
          <a:prstGeom prst="roundRect">
            <a:avLst>
              <a:gd name="adj" fmla="val 94071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0" y="1612702"/>
            <a:ext cx="614363" cy="614363"/>
          </a:xfrm>
          <a:prstGeom prst="roundRect">
            <a:avLst>
              <a:gd name="adj" fmla="val 148837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909" y="1766292"/>
            <a:ext cx="245745" cy="3071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4404" y="2431852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Tujuan Utama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44404" y="2874645"/>
            <a:ext cx="6040755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Membangun desain sistem STMS berbasis machine learning dan mengembangkan algoritma analisis perilaku pengguna.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7594" y="1919883"/>
            <a:ext cx="6496050" cy="1837730"/>
          </a:xfrm>
          <a:prstGeom prst="roundRect">
            <a:avLst>
              <a:gd name="adj" fmla="val 5971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417594" y="1897023"/>
            <a:ext cx="6496050" cy="91440"/>
          </a:xfrm>
          <a:prstGeom prst="roundRect">
            <a:avLst>
              <a:gd name="adj" fmla="val 94071"/>
            </a:avLst>
          </a:prstGeom>
          <a:solidFill>
            <a:srgbClr val="4950BC"/>
          </a:solidFill>
          <a:ln/>
        </p:spPr>
      </p:sp>
      <p:sp>
        <p:nvSpPr>
          <p:cNvPr id="11" name="Shape 8"/>
          <p:cNvSpPr/>
          <p:nvPr/>
        </p:nvSpPr>
        <p:spPr>
          <a:xfrm>
            <a:off x="10358438" y="1612702"/>
            <a:ext cx="614363" cy="614363"/>
          </a:xfrm>
          <a:prstGeom prst="roundRect">
            <a:avLst>
              <a:gd name="adj" fmla="val 148837"/>
            </a:avLst>
          </a:prstGeom>
          <a:solidFill>
            <a:srgbClr val="4950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2746" y="1766292"/>
            <a:ext cx="245745" cy="3071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5241" y="2431852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Solusi Digital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645241" y="2874645"/>
            <a:ext cx="6040755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Menyediakan solusi digital untuk efisiensi belajar dan mencapai keseimbangan waktu optimal bagi mahasiswa.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6756" y="4064794"/>
            <a:ext cx="3072051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Manfaat Proyek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16756" y="4960739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Manfaat Teoretis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16756" y="5485448"/>
            <a:ext cx="634865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Kontribusi pada pengembangan sistem ML untuk produktivitas personal.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16756" y="6212443"/>
            <a:ext cx="634865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Menjadi referensi penelitian lanjutan terkait sistem rekomendasi berbasis perilaku.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572613" y="4960739"/>
            <a:ext cx="255996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Manfaat Praktis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572613" y="5485448"/>
            <a:ext cx="634865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Membantu mahasiswa mengatur waktu belajar dan istirahat secara efisien.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72613" y="6212443"/>
            <a:ext cx="634865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Meningkatkan produktivitas dan mengurangi stres akibat jadwal padat.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572613" y="6939439"/>
            <a:ext cx="6348651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Mendukung perguruan tinggi dengan solusi teknologi untuk kesejahteraan akademik.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3985" y="356711"/>
            <a:ext cx="6208395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BAB II: Tinjauan Pustaka &amp; Pembanding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7307580" y="1021437"/>
            <a:ext cx="15240" cy="3201829"/>
          </a:xfrm>
          <a:prstGeom prst="roundRect">
            <a:avLst>
              <a:gd name="adj" fmla="val 357487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7071122" y="1159669"/>
            <a:ext cx="259318" cy="15240"/>
          </a:xfrm>
          <a:prstGeom prst="roundRect">
            <a:avLst>
              <a:gd name="adj" fmla="val 357487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7266563" y="1118652"/>
            <a:ext cx="97274" cy="97274"/>
          </a:xfrm>
          <a:prstGeom prst="roundRect">
            <a:avLst>
              <a:gd name="adj" fmla="val 470013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5175052" y="1065967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Landasan Teori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3985" y="1346359"/>
            <a:ext cx="6342459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Berlandaskan </a:t>
            </a:r>
            <a:pPr algn="r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Management Theory</a:t>
            </a:r>
            <a:pPr algn="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(Macan, 1994) dan Behavioral Productivity Analytics.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299960" y="1937742"/>
            <a:ext cx="259318" cy="15240"/>
          </a:xfrm>
          <a:prstGeom prst="roundRect">
            <a:avLst>
              <a:gd name="adj" fmla="val 357487"/>
            </a:avLst>
          </a:prstGeom>
          <a:solidFill>
            <a:srgbClr val="C0C1D7"/>
          </a:solidFill>
          <a:ln/>
        </p:spPr>
      </p:sp>
      <p:sp>
        <p:nvSpPr>
          <p:cNvPr id="9" name="Shape 7"/>
          <p:cNvSpPr/>
          <p:nvPr/>
        </p:nvSpPr>
        <p:spPr>
          <a:xfrm>
            <a:off x="7266563" y="1896725"/>
            <a:ext cx="97274" cy="97274"/>
          </a:xfrm>
          <a:prstGeom prst="roundRect">
            <a:avLst>
              <a:gd name="adj" fmla="val 470013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833955" y="1844040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Teknologi Kunci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33955" y="2124432"/>
            <a:ext cx="6342459" cy="41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Algoritma Machine Learning (Random Forest, SVM) untuk deteksi pola, dan Flutter untuk aplikasi lintas platform.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71122" y="2608421"/>
            <a:ext cx="259318" cy="15240"/>
          </a:xfrm>
          <a:prstGeom prst="roundRect">
            <a:avLst>
              <a:gd name="adj" fmla="val 357487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7266563" y="2567404"/>
            <a:ext cx="97274" cy="97274"/>
          </a:xfrm>
          <a:prstGeom prst="roundRect">
            <a:avLst>
              <a:gd name="adj" fmla="val 470013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5175052" y="2514719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Proyek Sejenis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3985" y="2795111"/>
            <a:ext cx="6342459" cy="20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Pomodoro AI, Google Calendar Smart Suggestions, dan Habitica (gamifikasi).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99960" y="3279219"/>
            <a:ext cx="259318" cy="15240"/>
          </a:xfrm>
          <a:prstGeom prst="roundRect">
            <a:avLst>
              <a:gd name="adj" fmla="val 357487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6563" y="3238202"/>
            <a:ext cx="97274" cy="97274"/>
          </a:xfrm>
          <a:prstGeom prst="roundRect">
            <a:avLst>
              <a:gd name="adj" fmla="val 470013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833955" y="3185517"/>
            <a:ext cx="1621393" cy="202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Celah Inovasi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33955" y="3465909"/>
            <a:ext cx="6342459" cy="414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Proyek terdahulu belum adaptif terhadap ritme biologis dan tingkat produktivitas individu secara personal.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605" y="4455795"/>
            <a:ext cx="4499848" cy="449984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157" y="4455795"/>
            <a:ext cx="4499967" cy="4499967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827" y="4455795"/>
            <a:ext cx="4499967" cy="44999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8762" y="446961"/>
            <a:ext cx="8694420" cy="507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BAB III: Metodologi Perancangan (Waterfall)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68762" y="1279922"/>
            <a:ext cx="13492877" cy="260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Pendekatan rekayasa perangkat lunak menggunakan model </a:t>
            </a:r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Waterfall SDLC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dengan lima tahap utama: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1722715"/>
            <a:ext cx="13060680" cy="490097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828" y="2971080"/>
            <a:ext cx="674638" cy="6746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37767" y="5054446"/>
            <a:ext cx="1969942" cy="113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&amp; Documentation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9021" y="2972345"/>
            <a:ext cx="674638" cy="674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55101" y="5244188"/>
            <a:ext cx="1969942" cy="75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Testing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848" y="2972345"/>
            <a:ext cx="674637" cy="67463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85927" y="5054446"/>
            <a:ext cx="1969943" cy="113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Implementative Simulation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673" y="2972345"/>
            <a:ext cx="674638" cy="67463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916753" y="5244188"/>
            <a:ext cx="1969942" cy="75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Design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8007" y="2972345"/>
            <a:ext cx="674638" cy="67463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393608" y="5244188"/>
            <a:ext cx="1969942" cy="758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15" name="Shape 7"/>
          <p:cNvSpPr/>
          <p:nvPr/>
        </p:nvSpPr>
        <p:spPr>
          <a:xfrm>
            <a:off x="568762" y="6806446"/>
            <a:ext cx="4389239" cy="1502212"/>
          </a:xfrm>
          <a:prstGeom prst="roundRect">
            <a:avLst>
              <a:gd name="adj" fmla="val 73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545902" y="6806446"/>
            <a:ext cx="91440" cy="1502212"/>
          </a:xfrm>
          <a:prstGeom prst="roundRect">
            <a:avLst>
              <a:gd name="adj" fmla="val 74656"/>
            </a:avLst>
          </a:prstGeom>
          <a:solidFill>
            <a:srgbClr val="4950BC"/>
          </a:solidFill>
          <a:ln/>
        </p:spPr>
      </p:sp>
      <p:sp>
        <p:nvSpPr>
          <p:cNvPr id="17" name="Text 9"/>
          <p:cNvSpPr/>
          <p:nvPr/>
        </p:nvSpPr>
        <p:spPr>
          <a:xfrm>
            <a:off x="822722" y="6991826"/>
            <a:ext cx="203168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Analisis Kebutuhan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822722" y="7343180"/>
            <a:ext cx="3949898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 literatur dan survei untuk mengklasifikasikan kebutuhan fungsional (fitur) dan non-fungsional (kinerja, keamanan).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5120521" y="6806446"/>
            <a:ext cx="4389239" cy="1502212"/>
          </a:xfrm>
          <a:prstGeom prst="roundRect">
            <a:avLst>
              <a:gd name="adj" fmla="val 73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097661" y="6806446"/>
            <a:ext cx="91440" cy="1502212"/>
          </a:xfrm>
          <a:prstGeom prst="roundRect">
            <a:avLst>
              <a:gd name="adj" fmla="val 74656"/>
            </a:avLst>
          </a:prstGeom>
          <a:solidFill>
            <a:srgbClr val="4950BC"/>
          </a:solidFill>
          <a:ln/>
        </p:spPr>
      </p:sp>
      <p:sp>
        <p:nvSpPr>
          <p:cNvPr id="21" name="Text 13"/>
          <p:cNvSpPr/>
          <p:nvPr/>
        </p:nvSpPr>
        <p:spPr>
          <a:xfrm>
            <a:off x="5374481" y="6991826"/>
            <a:ext cx="203168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Desain Sistem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374481" y="7343180"/>
            <a:ext cx="3949898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Perancangan Use Case, Activity Diagram, Database Schema, dan UI/UX berbasis prinsip HCI.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9672280" y="6806446"/>
            <a:ext cx="4389239" cy="1502212"/>
          </a:xfrm>
          <a:prstGeom prst="roundRect">
            <a:avLst>
              <a:gd name="adj" fmla="val 730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649420" y="6806446"/>
            <a:ext cx="91440" cy="1502212"/>
          </a:xfrm>
          <a:prstGeom prst="roundRect">
            <a:avLst>
              <a:gd name="adj" fmla="val 74656"/>
            </a:avLst>
          </a:prstGeom>
          <a:solidFill>
            <a:srgbClr val="4950BC"/>
          </a:solidFill>
          <a:ln/>
        </p:spPr>
      </p:sp>
      <p:sp>
        <p:nvSpPr>
          <p:cNvPr id="25" name="Text 17"/>
          <p:cNvSpPr/>
          <p:nvPr/>
        </p:nvSpPr>
        <p:spPr>
          <a:xfrm>
            <a:off x="9926241" y="6991826"/>
            <a:ext cx="2272665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Implementasi Simulatif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9926241" y="7343180"/>
            <a:ext cx="3949898" cy="78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Pembangunan sistem dengan model ML menggunakan dataset aktivitas harian pengguna (belajar, tidur, penggunaan aplikasi).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198" y="343495"/>
            <a:ext cx="4606052" cy="39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Metodologi: Pengujian &amp; Tools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37198" y="1046083"/>
            <a:ext cx="2179558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Tahap Akhir Metodologi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37198" y="1420773"/>
            <a:ext cx="281107" cy="28110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3989" y="1444169"/>
            <a:ext cx="187404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3201" y="1463635"/>
            <a:ext cx="1561624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Pengujian Sistem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3201" y="1783794"/>
            <a:ext cx="6319599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Mengukur akurasi rekomendasi sistem menggunakan metrik Precision, Recall, dan F1-score.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7198" y="2233374"/>
            <a:ext cx="281107" cy="28110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3989" y="2256770"/>
            <a:ext cx="187404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43201" y="2276237"/>
            <a:ext cx="1823204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Evaluasi &amp; Dokumentasi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3201" y="2596396"/>
            <a:ext cx="6319599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Evaluasi kinerja sistem dan penilaian subjektif dari calon pengguna (mahasiswa).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75220" y="1046083"/>
            <a:ext cx="1874044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&amp; Teknologi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75220" y="1420773"/>
            <a:ext cx="6725603" cy="1474470"/>
          </a:xfrm>
          <a:prstGeom prst="roundRect">
            <a:avLst>
              <a:gd name="adj" fmla="val 35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82840" y="1428393"/>
            <a:ext cx="6710362" cy="3648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607737" y="1510903"/>
            <a:ext cx="243054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Bahasa Pemrograman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295692" y="1510903"/>
            <a:ext cx="377261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82840" y="1793200"/>
            <a:ext cx="6710362" cy="3648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07737" y="1875711"/>
            <a:ext cx="243054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295692" y="1875711"/>
            <a:ext cx="377261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Flutter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TensorFlow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82840" y="2158008"/>
            <a:ext cx="6710362" cy="36480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607737" y="2240518"/>
            <a:ext cx="243054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295692" y="2240518"/>
            <a:ext cx="377261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82840" y="2522815"/>
            <a:ext cx="6710362" cy="36480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607737" y="2605326"/>
            <a:ext cx="2430542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Desain UI/UX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295692" y="2605326"/>
            <a:ext cx="377261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</a:t>
            </a:r>
            <a:endParaRPr lang="en-US" sz="9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0" y="3035737"/>
            <a:ext cx="6725603" cy="67256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7067" y="448389"/>
            <a:ext cx="5041106" cy="509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Solusi: Fitur Utama STMS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57067" y="1202531"/>
            <a:ext cx="8002667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Time Management System (STMS) dirancang untuk menjadi asisten produktivitas personal yang adaptif.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067" y="1907381"/>
            <a:ext cx="407551" cy="4075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57067" y="2518648"/>
            <a:ext cx="2756178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Tracking Aktivitas Otomatis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057067" y="2871192"/>
            <a:ext cx="800266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Mencatat dan mengkategorikan aktivitas pengguna secara real-time.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067" y="3457932"/>
            <a:ext cx="407551" cy="4075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57067" y="4069199"/>
            <a:ext cx="2639735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Analisis Pola Produktivitas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057067" y="4421743"/>
            <a:ext cx="800266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Menggunakan algoritma Random Forest untuk mendeteksi waktu paling produktif pengguna.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067" y="5008483"/>
            <a:ext cx="407551" cy="4075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57067" y="5619750"/>
            <a:ext cx="2883098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Rekomendasi Jadwal Adaptif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057067" y="5972294"/>
            <a:ext cx="800266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Memberikan saran aktivitas harian berdasarkan pola kebiasaan yang terdeteksi ML.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067" y="6559034"/>
            <a:ext cx="407551" cy="4075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57067" y="7170301"/>
            <a:ext cx="2038112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Laporan Visual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057067" y="7522845"/>
            <a:ext cx="8002667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Menampilkan grafik tren produktivitas mingguan dan bulanan yang mudah dipahami.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745" y="344686"/>
            <a:ext cx="4887873" cy="391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Hipotesis Hasil &amp; Batasan Solusi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38745" y="1049655"/>
            <a:ext cx="2242542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Prediksi Keluaran Utama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38745" y="1488162"/>
            <a:ext cx="6723578" cy="413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85%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2972633" y="2058352"/>
            <a:ext cx="1655802" cy="195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Akurasi Rekomendasi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745" y="2379464"/>
            <a:ext cx="6723578" cy="40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STMS diprediksi menghasilkan rekomendasi dengan akurasi minimal 85% berdasarkan pola perilaku pengguna.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8745" y="2921437"/>
            <a:ext cx="6723578" cy="401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Aplikasi diharapkan mampu membantu pengguna mengatur waktu belajar dan istirahat dengan efisiensi yang lebih tinggi, konsisten dengan teori Time Management Behavior (Macan, 1994).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75696" y="1049655"/>
            <a:ext cx="1880235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Batasan Solusi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75696" y="1425535"/>
            <a:ext cx="6723578" cy="481489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6190" y="1566029"/>
            <a:ext cx="6442591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perilaku pengguna masih berbasis input digital,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belum mencakup sensor biometrik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75696" y="2032278"/>
            <a:ext cx="6723578" cy="481489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190" y="2172772"/>
            <a:ext cx="6442591" cy="200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Implementasi awal hanya diuji pada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mahasiswa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belum mencakup pekerja profesional.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696" y="2654737"/>
            <a:ext cx="6723578" cy="67235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519" y="570905"/>
            <a:ext cx="8731687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Lampiran: Pembagian Tugas &amp; Tim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6519" y="1634728"/>
            <a:ext cx="1317736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Kolaborasi tim yang solid memastikan semua aspek proyek, dari analisis hingga implementasi ML, tercakup dengan baik.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6519" y="2200394"/>
            <a:ext cx="13177361" cy="2407682"/>
          </a:xfrm>
          <a:prstGeom prst="roundRect">
            <a:avLst>
              <a:gd name="adj" fmla="val 362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4139" y="2208014"/>
            <a:ext cx="6581061" cy="1196221"/>
          </a:xfrm>
          <a:prstGeom prst="roundRect">
            <a:avLst>
              <a:gd name="adj" fmla="val 7289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941665" y="2415540"/>
            <a:ext cx="279058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Hafiz Adli Assyahadat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1665" y="2864525"/>
            <a:ext cx="58545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Analisis kebutuhan dan desain sistem.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2208014"/>
            <a:ext cx="6581061" cy="119622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208014"/>
            <a:ext cx="22860" cy="1196221"/>
          </a:xfrm>
          <a:prstGeom prst="roundRect">
            <a:avLst>
              <a:gd name="adj" fmla="val 381427"/>
            </a:avLst>
          </a:prstGeom>
          <a:solidFill>
            <a:srgbClr val="C0C1D7"/>
          </a:solidFill>
          <a:ln/>
        </p:spPr>
      </p:sp>
      <p:sp>
        <p:nvSpPr>
          <p:cNvPr id="10" name="Text 8"/>
          <p:cNvSpPr/>
          <p:nvPr/>
        </p:nvSpPr>
        <p:spPr>
          <a:xfrm>
            <a:off x="7834193" y="2415540"/>
            <a:ext cx="259496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Imam Hannani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834193" y="2864525"/>
            <a:ext cx="58545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Kajian pustaka dan penulisan laporan.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55763" y="2546568"/>
            <a:ext cx="518993" cy="518993"/>
          </a:xfrm>
          <a:prstGeom prst="roundRect">
            <a:avLst>
              <a:gd name="adj" fmla="val 168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541" y="2643842"/>
            <a:ext cx="259437" cy="32432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4139" y="3404235"/>
            <a:ext cx="6581061" cy="119622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5" name="Shape 12"/>
          <p:cNvSpPr/>
          <p:nvPr/>
        </p:nvSpPr>
        <p:spPr>
          <a:xfrm>
            <a:off x="734139" y="3404235"/>
            <a:ext cx="6581061" cy="22860"/>
          </a:xfrm>
          <a:prstGeom prst="roundRect">
            <a:avLst>
              <a:gd name="adj" fmla="val 381427"/>
            </a:avLst>
          </a:prstGeom>
          <a:solidFill>
            <a:srgbClr val="C0C1D7"/>
          </a:solidFill>
          <a:ln/>
        </p:spPr>
      </p:sp>
      <p:sp>
        <p:nvSpPr>
          <p:cNvPr id="16" name="Text 13"/>
          <p:cNvSpPr/>
          <p:nvPr/>
        </p:nvSpPr>
        <p:spPr>
          <a:xfrm>
            <a:off x="941665" y="3611761"/>
            <a:ext cx="4081939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Mukhammad Faizsyahril Junaidi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41665" y="4060746"/>
            <a:ext cx="58545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Pengembangan model machine learning.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15200" y="3404235"/>
            <a:ext cx="6581061" cy="1196221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3404235"/>
            <a:ext cx="22860" cy="1196221"/>
          </a:xfrm>
          <a:prstGeom prst="roundRect">
            <a:avLst>
              <a:gd name="adj" fmla="val 381427"/>
            </a:avLst>
          </a:prstGeom>
          <a:solidFill>
            <a:srgbClr val="C0C1D7"/>
          </a:solidFill>
          <a:ln/>
        </p:spPr>
      </p:sp>
      <p:sp>
        <p:nvSpPr>
          <p:cNvPr id="20" name="Shape 17"/>
          <p:cNvSpPr/>
          <p:nvPr/>
        </p:nvSpPr>
        <p:spPr>
          <a:xfrm>
            <a:off x="7315200" y="3404235"/>
            <a:ext cx="6581061" cy="22860"/>
          </a:xfrm>
          <a:prstGeom prst="roundRect">
            <a:avLst>
              <a:gd name="adj" fmla="val 381427"/>
            </a:avLst>
          </a:prstGeom>
          <a:solidFill>
            <a:srgbClr val="C0C1D7"/>
          </a:solidFill>
          <a:ln/>
        </p:spPr>
      </p:sp>
      <p:sp>
        <p:nvSpPr>
          <p:cNvPr id="21" name="Text 18"/>
          <p:cNvSpPr/>
          <p:nvPr/>
        </p:nvSpPr>
        <p:spPr>
          <a:xfrm>
            <a:off x="7834193" y="3611761"/>
            <a:ext cx="3278029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 Putu Nara Surya Wibawa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834193" y="4060746"/>
            <a:ext cx="585454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Desain UI/UX dan validasi hasil.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055763" y="3742789"/>
            <a:ext cx="518993" cy="518993"/>
          </a:xfrm>
          <a:prstGeom prst="roundRect">
            <a:avLst>
              <a:gd name="adj" fmla="val 1680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541" y="3840063"/>
            <a:ext cx="259437" cy="324326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4975860"/>
            <a:ext cx="3643193" cy="2491145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187" y="4975860"/>
            <a:ext cx="3643193" cy="2491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2025-10-16T07:25:52Z</dcterms:created>
  <dcterms:modified xsi:type="dcterms:W3CDTF">2025-10-16T07:25:52Z</dcterms:modified>
</cp:coreProperties>
</file>